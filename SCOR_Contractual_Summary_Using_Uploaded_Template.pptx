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Renewal fees (GBP)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Fee (GBP)</c:v>
                </c:pt>
              </c:strCache>
            </c:strRef>
          </c:tx>
          <c:spPr>
            <a:ln>
              <a:solidFill>
                <a:srgbClr val="00357A"/>
              </a:solidFill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50364</c:v>
                </c:pt>
                <c:pt idx="1">
                  <c:v>52379</c:v>
                </c:pt>
                <c:pt idx="2">
                  <c:v>53950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Fee (GBP)</c:v>
                </c:pt>
              </c:strCache>
            </c:strRef>
          </c:tx>
          <c:spPr>
            <a:ln>
              <a:solidFill>
                <a:srgbClr val="00357A"/>
              </a:solidFill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50364</c:v>
                </c:pt>
                <c:pt idx="1">
                  <c:v>52379</c:v>
                </c:pt>
                <c:pt idx="2">
                  <c:v>53950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SCOR Managing Agency | Contractual &amp; Relationship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89920" cy="1920240"/>
          </a:xfrm>
          <a:prstGeom prst="roundRect">
            <a:avLst/>
          </a:prstGeom>
          <a:solidFill>
            <a:srgbClr val="E9F0FA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57A"/>
                </a:solidFill>
              </a:defRPr>
            </a:pPr>
            <a:r>
              <a:t>Executive summary of contractual position, use case, and latest client topics</a:t>
            </a:r>
          </a:p>
          <a:p>
            <a:pPr>
              <a:defRPr sz="1600">
                <a:solidFill>
                  <a:srgbClr val="5A6775"/>
                </a:solidFill>
              </a:defRPr>
            </a:pPr>
            <a:r>
              <a:t>Prepared from agreement renewals (2023-2025), amendment, and latest client correspondence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Client: SCOR Managing Agency Limited (formerly The Channel Managing Agency Limited)</a:t>
            </a:r>
          </a:p>
          <a:p>
            <a:pPr>
              <a:defRPr sz="1600">
                <a:solidFill>
                  <a:srgbClr val="212B36"/>
                </a:solidFill>
              </a:defRPr>
            </a:pPr>
            <a:r>
              <a:t>Primary contact: Jeremy Wang (Head of Capital Modelling)</a:t>
            </a:r>
          </a:p>
        </p:txBody>
      </p:sp>
      <p:sp>
        <p:nvSpPr>
          <p:cNvPr id="8" name="Oval 7"/>
          <p:cNvSpPr/>
          <p:nvPr/>
        </p:nvSpPr>
        <p:spPr>
          <a:xfrm>
            <a:off x="813816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Contract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Use Case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1)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B36"/>
                </a:solidFill>
              </a:defRPr>
            </a:pPr>
            <a:r>
              <a:t>Current situation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SCOR is renewing annually under the long-running Moody's agreement framework.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The 2025 renewal fee is GBP 53,950 (+3.0% vs 2024), below standard increase range referenced by sales (6-10%).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Contract entity/name and address have been formally updated to SCOR Managing Agency Limited, 8 Bishopsgate.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Client preference is a one-year renewal (vs multi-year), while Moody's proposed limited uplift continuity for multi-year.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Recent conversations focus on operational simplification and parameter governance in Scenario Generator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2) Contractual Position (Summary 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Effective / Renewal Date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Agreement Ref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Financial Impact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Base Order Form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2016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Framework remains governing baseline for current services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Legacy baseline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Annual renewal under existing services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50,364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Service continuity maintained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52,379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Annual fee reminder and services retained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53,950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Amendment 1 to Order Form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Client renamed/address updated + sanctions clause refresh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No explicit fee change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532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5"/>
                </a:solidFill>
              </a:defRPr>
            </a:pPr>
            <a:r>
              <a:t>Contractual note: amendment confirms legal identity transition from The Channel Managing Agency Limited to SCOR Managing Agency Limited and updates the licensed site to 8 Bishopsgate.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3) Commercial Trend (Annual Renewal Fees)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1887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17320"/>
            <a:ext cx="3749039" cy="3474720"/>
          </a:xfrm>
          <a:prstGeom prst="roundRect">
            <a:avLst/>
          </a:prstGeom>
          <a:solidFill>
            <a:srgbClr val="E9F0FA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57A"/>
                </a:solidFill>
              </a:defRPr>
            </a:pPr>
            <a:r>
              <a:t>Key observations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2024 vs 2023: +GBP 2,015 (+4.0%)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2025 vs 2024: +GBP 1,571 (+3.0%)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Sales note references standard market uplift of 6-10%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Current renewal kept to lower increase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4) SCOR Use Case and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Hexagon 4"/>
          <p:cNvSpPr/>
          <p:nvPr/>
        </p:nvSpPr>
        <p:spPr>
          <a:xfrm>
            <a:off x="196596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Modeling Objective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Scenario Generator supports Solvency II capital modelling workflows.</a:t>
            </a:r>
          </a:p>
        </p:txBody>
      </p:sp>
      <p:sp>
        <p:nvSpPr>
          <p:cNvPr id="7" name="Hexagon 6"/>
          <p:cNvSpPr/>
          <p:nvPr/>
        </p:nvSpPr>
        <p:spPr>
          <a:xfrm>
            <a:off x="580644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Current Mode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SCOR team runs SG software internally for calibration and output generation.</a:t>
            </a:r>
          </a:p>
        </p:txBody>
      </p:sp>
      <p:sp>
        <p:nvSpPr>
          <p:cNvPr id="9" name="Hexagon 8"/>
          <p:cNvSpPr/>
          <p:nvPr/>
        </p:nvSpPr>
        <p:spPr>
          <a:xfrm>
            <a:off x="964692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Target Operating Need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Request to receive quarterly calibration output in CSV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5) Recent Topics with Client (Discussion Tracker)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 Ask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Recommended Follow-up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structure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Proceed with single-year renewal over multi-year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Indicates procurement flexibility preference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Position value story for optional multi-year without forcing term commitment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Output delivery model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Receive quarterly calibration outputs as CSV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Could reduce SCOR operational effort and execution burden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Assess feasibility, scope, and commercial/operational implications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Corporate bond parameters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Clarify NumberOfBonds and Coupon settings in GenericBondPortfolios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Direct impact on parameter governance and model output quality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Provide technical guidance and suitable parameter boundaries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Dummy-value scenario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Understand implications of NumberOfBonds=1, Coupon=0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Potential risk of unrealistic return behavior and model distortion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Run controlled test case and document impact before adoption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6) Suggested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234439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Commercial: Confirm 1-year renewal path and maintain relationship-level pricing rationale.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48839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0312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Contract: Ensure records consistently reflect SCOR legal name/address (8 Bishopsgate).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97180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Product Ops: Define a feasibility note for quarterly CSV calibration output delivery.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84048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Quant Support: Respond formally on NumberOfBonds/Coupon settings and dummy-value impacts.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70916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Governance: Align follow-up owners across Sales, Product Specialist, and Contract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Source: SCOR renewal notices, amendment, and client/sales email exchange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SCOR Managing Agency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Contractual situation, use case, and recent discussion topics</a:t>
            </a:r>
          </a:p>
          <a:p>
            <a:r>
              <a:t>Prepared from SCOR renewal, amendment, and correspondence 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SCOR continues annual renewals under Moody's Agreement framework (originating in 2016).</a:t>
            </a:r>
          </a:p>
          <a:p>
            <a:pPr/>
            <a:r>
              <a:t>2025 renewal fee is GBP 53,950, a 3.0% increase vs 2024 and below referenced standard uplift range.</a:t>
            </a:r>
          </a:p>
          <a:p>
            <a:pPr/>
            <a:r>
              <a:t>Amendment confirms legal identity/address update to SCOR Managing Agency Limited, 8 Bishopsgate.</a:t>
            </a:r>
          </a:p>
          <a:p>
            <a:pPr/>
            <a:r>
              <a:t>Client preference is a one-year renewal instead of a multi-year term.</a:t>
            </a:r>
          </a:p>
          <a:p>
            <a:pPr/>
            <a:r>
              <a:t>Recent topics focus on CSV output delivery and corporate bond calibration parameter governance.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Contractual position (summary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contractual point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Fee impact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Base Order Form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23 Dec 2016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00073841.0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Governing baseline for subscribed SG services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Renewal Notice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23 Dec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00073841.7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Annual renewal under same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GBP 50,364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Renewal Notice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23 Dec 2024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00073841.8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Annual renewal continuation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GBP 52,379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Renewal Notice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23 Dec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00073841.9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Annual renewal 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GBP 53,950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Amendment 1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23 Dec 2025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00073841.9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Entity and licensed site address updated, sanctions clause refreshed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No explicit fee delta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trend (annual renewal fees)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1887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554480"/>
            <a:ext cx="4023360" cy="3566160"/>
          </a:xfrm>
          <a:prstGeom prst="roundRect">
            <a:avLst/>
          </a:prstGeom>
          <a:solidFill>
            <a:srgbClr val="E9F0F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0357A"/>
                </a:solidFill>
              </a:defRPr>
            </a:pPr>
            <a:r>
              <a:t>Highlights</a:t>
            </a:r>
          </a:p>
          <a:p>
            <a:pPr lvl="1">
              <a:defRPr sz="1200">
                <a:solidFill>
                  <a:srgbClr val="212B36"/>
                </a:solidFill>
              </a:defRPr>
            </a:pPr>
            <a:r>
              <a:t>2024 vs 2023: +GBP 2,015 (+4.0%)</a:t>
            </a:r>
          </a:p>
          <a:p>
            <a:pPr lvl="1">
              <a:defRPr sz="1200">
                <a:solidFill>
                  <a:srgbClr val="212B36"/>
                </a:solidFill>
              </a:defRPr>
            </a:pPr>
            <a:r>
              <a:t>2025 vs 2024: +GBP 1,571 (+3.0%)</a:t>
            </a:r>
          </a:p>
          <a:p>
            <a:pPr lvl="1">
              <a:defRPr sz="1200">
                <a:solidFill>
                  <a:srgbClr val="212B36"/>
                </a:solidFill>
              </a:defRPr>
            </a:pPr>
            <a:r>
              <a:t>Sales note: market uplift often 6-10%</a:t>
            </a:r>
          </a:p>
          <a:p>
            <a:pPr lvl="1">
              <a:defRPr sz="1200">
                <a:solidFill>
                  <a:srgbClr val="212B36"/>
                </a:solidFill>
              </a:defRPr>
            </a:pPr>
            <a:r>
              <a:t>Current pricing increase remained limited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and operating model</a:t>
            </a:r>
          </a:p>
        </p:txBody>
      </p:sp>
      <p:sp>
        <p:nvSpPr>
          <p:cNvPr id="3" name="Oval 2"/>
          <p:cNvSpPr/>
          <p:nvPr/>
        </p:nvSpPr>
        <p:spPr>
          <a:xfrm>
            <a:off x="1920240" y="1325880"/>
            <a:ext cx="640080" cy="640080"/>
          </a:xfrm>
          <a:prstGeom prst="ellipse">
            <a:avLst/>
          </a:prstGeom>
          <a:solidFill>
            <a:srgbClr val="0035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566160" cy="2560320"/>
          </a:xfrm>
          <a:prstGeom prst="roundRect">
            <a:avLst/>
          </a:prstGeom>
          <a:solidFill>
            <a:srgbClr val="E9F0F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357A"/>
                </a:solidFill>
              </a:defRPr>
            </a:pPr>
            <a:r>
              <a:t>Business objective</a:t>
            </a:r>
          </a:p>
          <a:p>
            <a:pPr>
              <a:defRPr sz="1200"/>
            </a:pPr>
            <a:r>
              <a:t>Scenario Generator used for Solvency II capital modelling.</a:t>
            </a:r>
          </a:p>
        </p:txBody>
      </p:sp>
      <p:sp>
        <p:nvSpPr>
          <p:cNvPr id="5" name="Oval 4"/>
          <p:cNvSpPr/>
          <p:nvPr/>
        </p:nvSpPr>
        <p:spPr>
          <a:xfrm>
            <a:off x="5806440" y="1325880"/>
            <a:ext cx="640080" cy="640080"/>
          </a:xfrm>
          <a:prstGeom prst="ellipse">
            <a:avLst/>
          </a:prstGeom>
          <a:solidFill>
            <a:srgbClr val="0035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103120"/>
            <a:ext cx="3566160" cy="2560320"/>
          </a:xfrm>
          <a:prstGeom prst="roundRect">
            <a:avLst/>
          </a:prstGeom>
          <a:solidFill>
            <a:srgbClr val="E9F0F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357A"/>
                </a:solidFill>
              </a:defRPr>
            </a:pPr>
            <a:r>
              <a:t>Current mode</a:t>
            </a:r>
          </a:p>
          <a:p>
            <a:pPr>
              <a:defRPr sz="1200"/>
            </a:pPr>
            <a:r>
              <a:t>SCOR runs SG software directly for calibrations and outputs.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1325880"/>
            <a:ext cx="640080" cy="640080"/>
          </a:xfrm>
          <a:prstGeom prst="ellipse">
            <a:avLst/>
          </a:prstGeom>
          <a:solidFill>
            <a:srgbClr val="0035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03120"/>
            <a:ext cx="3566160" cy="2560320"/>
          </a:xfrm>
          <a:prstGeom prst="roundRect">
            <a:avLst/>
          </a:prstGeom>
          <a:solidFill>
            <a:srgbClr val="E9F0F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0357A"/>
                </a:solidFill>
              </a:defRPr>
            </a:pPr>
            <a:r>
              <a:t>Requested evolution</a:t>
            </a:r>
          </a:p>
          <a:p>
            <a:pPr>
              <a:defRPr sz="1200"/>
            </a:pPr>
            <a:r>
              <a:t>Receive calibration outputs in CSV quarterly instead of self-running.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topics with SCOR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Client question / ask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Proposed follow-up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Renewal term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Proceed with single-year renewal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Signals preference for short commitment cycle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Frame optional multi-year as value/operational simplification lever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Quarterly calibration outputs in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Could reduce client-side operational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Assess delivery model, scope, and commercial treatment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Corporate bond parameters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Clarify NumberOfBonds and Coupon settings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Can affect return calibration behavior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Provide parameter guidance note with recommended ranges</a:t>
                      </a:r>
                    </a:p>
                  </a:txBody>
                  <a:tcPr>
                    <a:solidFill>
                      <a:srgbClr val="E9F0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Dummy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Impact of NumberOfBonds=1 and Coupon=0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Risk of unrealistic output and model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Run controlled impact test and share evidence-based response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 final 1-year renewal execution path and commercial narrative.</a:t>
            </a:r>
          </a:p>
          <a:p>
            <a:pPr/>
            <a:r>
              <a:t>Complete contract housekeeping check for legal name and licensed address consistency.</a:t>
            </a:r>
          </a:p>
          <a:p>
            <a:pPr/>
            <a:r>
              <a:t>Define feasibility and ownership model for quarterly CSV output delivery.</a:t>
            </a:r>
          </a:p>
          <a:p>
            <a:pPr/>
            <a:r>
              <a:t>Issue formal quant response on corporate bond parameters and dummy value usage risks.</a:t>
            </a:r>
          </a:p>
          <a:p>
            <a:pPr/>
            <a:r>
              <a:t>Align Sales, Product Specialist, and Contracts owners for follow-through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