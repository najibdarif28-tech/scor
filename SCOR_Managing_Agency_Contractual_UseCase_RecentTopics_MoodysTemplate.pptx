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 (formerly The Channel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Source: latest SCOR docx + renewal/amendment records</a:t>
            </a:r>
          </a:p>
        </p:txBody>
      </p:sp>
      <p:sp>
        <p:nvSpPr>
          <p:cNvPr id="4" name="Content Placeholder 3"/>
          <p:cNvSpPr>
            <a:spLocks noGrp="1"/>
          </p:cNvSpPr>
          <p:nvPr>
            <p:ph idx="18" sz="quarter"/>
          </p:nvPr>
        </p:nvSpPr>
        <p:spPr/>
        <p:txBody>
          <a:bodyPr/>
          <a:lstStyle/>
          <a:p>
            <a:r>
              <a:t>Use case and current focus</a:t>
            </a:r>
          </a:p>
          <a:p>
            <a:r>
              <a:t>• SG actively supports Solvency II capital analytics.</a:t>
            </a:r>
          </a:p>
          <a:p>
            <a:r>
              <a:t>• Client requested quarterly CSV output and parameter clarification.</a:t>
            </a:r>
          </a:p>
        </p:txBody>
      </p:sp>
      <p:sp>
        <p:nvSpPr>
          <p:cNvPr id="5" name="Text Placeholder 4"/>
          <p:cNvSpPr>
            <a:spLocks noGrp="1"/>
          </p:cNvSpPr>
          <p:nvPr>
            <p:ph type="body" idx="15" sz="quarter"/>
          </p:nvPr>
        </p:nvSpPr>
        <p:spPr/>
        <p:txBody>
          <a:bodyPr/>
          <a:lstStyle/>
          <a:p>
            <a:r>
              <a:t>• Entity transition: The Channel Managing Agency Limited renamed to SCOR Managing Agency Limited.</a:t>
            </a:r>
          </a:p>
          <a:p>
            <a:r>
              <a:t>• 2025 fee: GBP 53,950 (+3% YoY).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407924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Year</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Entity</a:t>
                      </a:r>
                    </a:p>
                  </a:txBody>
                  <a:tcPr>
                    <a:solidFill>
                      <a:srgbClr val="00357A"/>
                    </a:solidFill>
                  </a:tcPr>
                </a:tc>
                <a:tc>
                  <a:txBody>
                    <a:bodyPr/>
                    <a:lstStyle/>
                    <a:p>
                      <a:pPr>
                        <a:defRPr b="1" sz="1100">
                          <a:solidFill>
                            <a:srgbClr val="FFFFFF"/>
                          </a:solidFill>
                        </a:defRPr>
                      </a:pPr>
                      <a:r>
                        <a:t>Contract event</a:t>
                      </a:r>
                    </a:p>
                  </a:txBody>
                  <a:tcPr>
                    <a:solidFill>
                      <a:srgbClr val="00357A"/>
                    </a:solidFill>
                  </a:tcPr>
                </a:tc>
                <a:tc>
                  <a:txBody>
                    <a:bodyPr/>
                    <a:lstStyle/>
                    <a:p>
                      <a:pPr>
                        <a:defRPr b="1" sz="1100">
                          <a:solidFill>
                            <a:srgbClr val="FFFFFF"/>
                          </a:solidFill>
                        </a:defRPr>
                      </a:pPr>
                      <a:r>
                        <a:t>Annual fee</a:t>
                      </a:r>
                    </a:p>
                  </a:txBody>
                  <a:tcPr>
                    <a:solidFill>
                      <a:srgbClr val="00357A"/>
                    </a:solidFill>
                  </a:tcPr>
                </a:tc>
              </a:tr>
              <a:tr h="370840">
                <a:tc>
                  <a:txBody>
                    <a:bodyPr/>
                    <a:lstStyle/>
                    <a:p>
                      <a:pPr>
                        <a:defRPr sz="900">
                          <a:solidFill>
                            <a:srgbClr val="212B36"/>
                          </a:solidFill>
                        </a:defRPr>
                      </a:pPr>
                      <a:r>
                        <a:t>2016</a:t>
                      </a:r>
                    </a:p>
                  </a:txBody>
                  <a:tcPr/>
                </a:tc>
                <a:tc>
                  <a:txBody>
                    <a:bodyPr/>
                    <a:lstStyle/>
                    <a:p>
                      <a:pPr>
                        <a:defRPr sz="900">
                          <a:solidFill>
                            <a:srgbClr val="212B36"/>
                          </a:solidFill>
                        </a:defRPr>
                      </a:pPr>
                      <a:r>
                        <a:t>00073841.0</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Base order form (effective 23 Dec 2016)</a:t>
                      </a:r>
                    </a:p>
                  </a:txBody>
                  <a:tcPr/>
                </a:tc>
                <a:tc>
                  <a:txBody>
                    <a:bodyPr/>
                    <a:lstStyle/>
                    <a:p>
                      <a:pPr>
                        <a:defRPr sz="900">
                          <a:solidFill>
                            <a:srgbClr val="212B36"/>
                          </a:solidFill>
                        </a:defRPr>
                      </a:pPr>
                      <a:r>
                        <a:t>N/A (baseline)</a:t>
                      </a:r>
                    </a:p>
                  </a:txBody>
                  <a:tcPr/>
                </a:tc>
              </a:tr>
              <a:tr h="370840">
                <a:tc>
                  <a:txBody>
                    <a:bodyPr/>
                    <a:lstStyle/>
                    <a:p>
                      <a:pPr>
                        <a:defRPr sz="900">
                          <a:solidFill>
                            <a:srgbClr val="212B36"/>
                          </a:solidFill>
                        </a:defRPr>
                      </a:pPr>
                      <a:r>
                        <a:t>2017</a:t>
                      </a:r>
                    </a:p>
                  </a:txBody>
                  <a:tcPr>
                    <a:solidFill>
                      <a:srgbClr val="E9F0FA"/>
                    </a:solidFill>
                  </a:tcPr>
                </a:tc>
                <a:tc>
                  <a:txBody>
                    <a:bodyPr/>
                    <a:lstStyle/>
                    <a:p>
                      <a:pPr>
                        <a:defRPr sz="900">
                          <a:solidFill>
                            <a:srgbClr val="212B36"/>
                          </a:solidFill>
                        </a:defRPr>
                      </a:pPr>
                      <a:r>
                        <a:t>00073841.1</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41,400</a:t>
                      </a:r>
                    </a:p>
                  </a:txBody>
                  <a:tcPr>
                    <a:solidFill>
                      <a:srgbClr val="E9F0FA"/>
                    </a:solidFill>
                  </a:tcPr>
                </a:tc>
              </a:tr>
              <a:tr h="370840">
                <a:tc>
                  <a:txBody>
                    <a:bodyPr/>
                    <a:lstStyle/>
                    <a:p>
                      <a:pPr>
                        <a:defRPr sz="900">
                          <a:solidFill>
                            <a:srgbClr val="212B36"/>
                          </a:solidFill>
                        </a:defRPr>
                      </a:pPr>
                      <a:r>
                        <a:t>2018</a:t>
                      </a:r>
                    </a:p>
                  </a:txBody>
                  <a:tcPr/>
                </a:tc>
                <a:tc>
                  <a:txBody>
                    <a:bodyPr/>
                    <a:lstStyle/>
                    <a:p>
                      <a:pPr>
                        <a:defRPr sz="900">
                          <a:solidFill>
                            <a:srgbClr val="212B36"/>
                          </a:solidFill>
                        </a:defRPr>
                      </a:pPr>
                      <a:r>
                        <a:t>00073841.2</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43,056</a:t>
                      </a:r>
                    </a:p>
                  </a:txBody>
                  <a:tcPr/>
                </a:tc>
              </a:tr>
              <a:tr h="370840">
                <a:tc>
                  <a:txBody>
                    <a:bodyPr/>
                    <a:lstStyle/>
                    <a:p>
                      <a:pPr>
                        <a:defRPr sz="900">
                          <a:solidFill>
                            <a:srgbClr val="212B36"/>
                          </a:solidFill>
                        </a:defRPr>
                      </a:pPr>
                      <a:r>
                        <a:t>2019</a:t>
                      </a:r>
                    </a:p>
                  </a:txBody>
                  <a:tcPr>
                    <a:solidFill>
                      <a:srgbClr val="E9F0FA"/>
                    </a:solidFill>
                  </a:tcPr>
                </a:tc>
                <a:tc>
                  <a:txBody>
                    <a:bodyPr/>
                    <a:lstStyle/>
                    <a:p>
                      <a:pPr>
                        <a:defRPr sz="900">
                          <a:solidFill>
                            <a:srgbClr val="212B36"/>
                          </a:solidFill>
                        </a:defRPr>
                      </a:pPr>
                      <a:r>
                        <a:t>00073841.3</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44,348</a:t>
                      </a:r>
                    </a:p>
                  </a:txBody>
                  <a:tcPr>
                    <a:solidFill>
                      <a:srgbClr val="E9F0FA"/>
                    </a:solidFill>
                  </a:tcPr>
                </a:tc>
              </a:tr>
              <a:tr h="370840">
                <a:tc>
                  <a:txBody>
                    <a:bodyPr/>
                    <a:lstStyle/>
                    <a:p>
                      <a:pPr>
                        <a:defRPr sz="900">
                          <a:solidFill>
                            <a:srgbClr val="212B36"/>
                          </a:solidFill>
                        </a:defRPr>
                      </a:pPr>
                      <a:r>
                        <a:t>2020</a:t>
                      </a:r>
                    </a:p>
                  </a:txBody>
                  <a:tcPr/>
                </a:tc>
                <a:tc>
                  <a:txBody>
                    <a:bodyPr/>
                    <a:lstStyle/>
                    <a:p>
                      <a:pPr>
                        <a:defRPr sz="900">
                          <a:solidFill>
                            <a:srgbClr val="212B36"/>
                          </a:solidFill>
                        </a:defRPr>
                      </a:pPr>
                      <a:r>
                        <a:t>00073841.4</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44,348</a:t>
                      </a:r>
                    </a:p>
                  </a:txBody>
                  <a:tcPr/>
                </a:tc>
              </a:tr>
              <a:tr h="370840">
                <a:tc>
                  <a:txBody>
                    <a:bodyPr/>
                    <a:lstStyle/>
                    <a:p>
                      <a:pPr>
                        <a:defRPr sz="900">
                          <a:solidFill>
                            <a:srgbClr val="212B36"/>
                          </a:solidFill>
                        </a:defRPr>
                      </a:pPr>
                      <a:r>
                        <a:t>2021</a:t>
                      </a:r>
                    </a:p>
                  </a:txBody>
                  <a:tcPr>
                    <a:solidFill>
                      <a:srgbClr val="E9F0FA"/>
                    </a:solidFill>
                  </a:tcPr>
                </a:tc>
                <a:tc>
                  <a:txBody>
                    <a:bodyPr/>
                    <a:lstStyle/>
                    <a:p>
                      <a:pPr>
                        <a:defRPr sz="900">
                          <a:solidFill>
                            <a:srgbClr val="212B36"/>
                          </a:solidFill>
                        </a:defRPr>
                      </a:pPr>
                      <a:r>
                        <a:t>00073841.5</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45,900</a:t>
                      </a:r>
                    </a:p>
                  </a:txBody>
                  <a:tcPr>
                    <a:solidFill>
                      <a:srgbClr val="E9F0FA"/>
                    </a:solidFill>
                  </a:tcPr>
                </a:tc>
              </a:tr>
              <a:tr h="370840">
                <a:tc>
                  <a:txBody>
                    <a:bodyPr/>
                    <a:lstStyle/>
                    <a:p>
                      <a:pPr>
                        <a:defRPr sz="900">
                          <a:solidFill>
                            <a:srgbClr val="212B36"/>
                          </a:solidFill>
                        </a:defRPr>
                      </a:pPr>
                      <a:r>
                        <a:t>2022</a:t>
                      </a:r>
                    </a:p>
                  </a:txBody>
                  <a:tcPr/>
                </a:tc>
                <a:tc>
                  <a:txBody>
                    <a:bodyPr/>
                    <a:lstStyle/>
                    <a:p>
                      <a:pPr>
                        <a:defRPr sz="900">
                          <a:solidFill>
                            <a:srgbClr val="212B36"/>
                          </a:solidFill>
                        </a:defRPr>
                      </a:pPr>
                      <a:r>
                        <a:t>00073841.6</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47,966</a:t>
                      </a:r>
                    </a:p>
                  </a:txBody>
                  <a:tcPr/>
                </a:tc>
              </a:tr>
              <a:tr h="370840">
                <a:tc>
                  <a:txBody>
                    <a:bodyPr/>
                    <a:lstStyle/>
                    <a:p>
                      <a:pPr>
                        <a:defRPr sz="900">
                          <a:solidFill>
                            <a:srgbClr val="212B36"/>
                          </a:solidFill>
                        </a:defRPr>
                      </a:pPr>
                      <a:r>
                        <a:t>2023</a:t>
                      </a:r>
                    </a:p>
                  </a:txBody>
                  <a:tcPr>
                    <a:solidFill>
                      <a:srgbClr val="E9F0FA"/>
                    </a:solidFill>
                  </a:tcPr>
                </a:tc>
                <a:tc>
                  <a:txBody>
                    <a:bodyPr/>
                    <a:lstStyle/>
                    <a:p>
                      <a:pPr>
                        <a:defRPr sz="900">
                          <a:solidFill>
                            <a:srgbClr val="212B36"/>
                          </a:solidFill>
                        </a:defRPr>
                      </a:pPr>
                      <a:r>
                        <a:t>00073841.7</a:t>
                      </a:r>
                    </a:p>
                  </a:txBody>
                  <a:tcPr>
                    <a:solidFill>
                      <a:srgbClr val="E9F0FA"/>
                    </a:solidFill>
                  </a:tcPr>
                </a:tc>
                <a:tc>
                  <a:txBody>
                    <a:bodyPr/>
                    <a:lstStyle/>
                    <a:p>
                      <a:pPr>
                        <a:defRPr sz="900">
                          <a:solidFill>
                            <a:srgbClr val="212B36"/>
                          </a:solidFill>
                        </a:defRPr>
                      </a:pPr>
                      <a:r>
                        <a:t>The Channel MA</a:t>
                      </a:r>
                    </a:p>
                  </a:txBody>
                  <a:tcPr>
                    <a:solidFill>
                      <a:srgbClr val="E9F0FA"/>
                    </a:solidFill>
                  </a:tcPr>
                </a:tc>
                <a:tc>
                  <a:txBody>
                    <a:bodyPr/>
                    <a:lstStyle/>
                    <a:p>
                      <a:pPr>
                        <a:defRPr sz="900">
                          <a:solidFill>
                            <a:srgbClr val="212B36"/>
                          </a:solidFill>
                        </a:defRPr>
                      </a:pPr>
                      <a:r>
                        <a:t>Renewal notification</a:t>
                      </a:r>
                    </a:p>
                  </a:txBody>
                  <a:tcPr>
                    <a:solidFill>
                      <a:srgbClr val="E9F0FA"/>
                    </a:solidFill>
                  </a:tcPr>
                </a:tc>
                <a:tc>
                  <a:txBody>
                    <a:bodyPr/>
                    <a:lstStyle/>
                    <a:p>
                      <a:pPr>
                        <a:defRPr sz="900">
                          <a:solidFill>
                            <a:srgbClr val="212B36"/>
                          </a:solidFill>
                        </a:defRPr>
                      </a:pPr>
                      <a:r>
                        <a:t>GBP 50,364</a:t>
                      </a:r>
                    </a:p>
                  </a:txBody>
                  <a:tcPr>
                    <a:solidFill>
                      <a:srgbClr val="E9F0FA"/>
                    </a:solidFill>
                  </a:tcPr>
                </a:tc>
              </a:tr>
              <a:tr h="370840">
                <a:tc>
                  <a:txBody>
                    <a:bodyPr/>
                    <a:lstStyle/>
                    <a:p>
                      <a:pPr>
                        <a:defRPr sz="900">
                          <a:solidFill>
                            <a:srgbClr val="212B36"/>
                          </a:solidFill>
                        </a:defRPr>
                      </a:pPr>
                      <a:r>
                        <a:t>2024</a:t>
                      </a:r>
                    </a:p>
                  </a:txBody>
                  <a:tcPr/>
                </a:tc>
                <a:tc>
                  <a:txBody>
                    <a:bodyPr/>
                    <a:lstStyle/>
                    <a:p>
                      <a:pPr>
                        <a:defRPr sz="900">
                          <a:solidFill>
                            <a:srgbClr val="212B36"/>
                          </a:solidFill>
                        </a:defRPr>
                      </a:pPr>
                      <a:r>
                        <a:t>00073841.8</a:t>
                      </a:r>
                    </a:p>
                  </a:txBody>
                  <a:tcPr/>
                </a:tc>
                <a:tc>
                  <a:txBody>
                    <a:bodyPr/>
                    <a:lstStyle/>
                    <a:p>
                      <a:pPr>
                        <a:defRPr sz="900">
                          <a:solidFill>
                            <a:srgbClr val="212B36"/>
                          </a:solidFill>
                        </a:defRPr>
                      </a:pPr>
                      <a:r>
                        <a:t>The Channel MA</a:t>
                      </a:r>
                    </a:p>
                  </a:txBody>
                  <a:tcPr/>
                </a:tc>
                <a:tc>
                  <a:txBody>
                    <a:bodyPr/>
                    <a:lstStyle/>
                    <a:p>
                      <a:pPr>
                        <a:defRPr sz="900">
                          <a:solidFill>
                            <a:srgbClr val="212B36"/>
                          </a:solidFill>
                        </a:defRPr>
                      </a:pPr>
                      <a:r>
                        <a:t>Renewal notification</a:t>
                      </a:r>
                    </a:p>
                  </a:txBody>
                  <a:tcPr/>
                </a:tc>
                <a:tc>
                  <a:txBody>
                    <a:bodyPr/>
                    <a:lstStyle/>
                    <a:p>
                      <a:pPr>
                        <a:defRPr sz="900">
                          <a:solidFill>
                            <a:srgbClr val="212B36"/>
                          </a:solidFill>
                        </a:defRPr>
                      </a:pPr>
                      <a:r>
                        <a:t>GBP 52,379</a:t>
                      </a:r>
                    </a:p>
                  </a:txBody>
                  <a:tcPr/>
                </a:tc>
              </a:tr>
              <a:tr h="370840">
                <a:tc>
                  <a:txBody>
                    <a:bodyPr/>
                    <a:lstStyle/>
                    <a:p>
                      <a:pPr>
                        <a:defRPr sz="900">
                          <a:solidFill>
                            <a:srgbClr val="212B36"/>
                          </a:solidFill>
                        </a:defRPr>
                      </a:pPr>
                      <a:r>
                        <a:t>2025</a:t>
                      </a:r>
                    </a:p>
                  </a:txBody>
                  <a:tcPr>
                    <a:solidFill>
                      <a:srgbClr val="E9F0FA"/>
                    </a:solidFill>
                  </a:tcPr>
                </a:tc>
                <a:tc>
                  <a:txBody>
                    <a:bodyPr/>
                    <a:lstStyle/>
                    <a:p>
                      <a:pPr>
                        <a:defRPr sz="900">
                          <a:solidFill>
                            <a:srgbClr val="212B36"/>
                          </a:solidFill>
                        </a:defRPr>
                      </a:pPr>
                      <a:r>
                        <a:t>00073841.9</a:t>
                      </a:r>
                    </a:p>
                  </a:txBody>
                  <a:tcPr>
                    <a:solidFill>
                      <a:srgbClr val="E9F0FA"/>
                    </a:solidFill>
                  </a:tcPr>
                </a:tc>
                <a:tc>
                  <a:txBody>
                    <a:bodyPr/>
                    <a:lstStyle/>
                    <a:p>
                      <a:pPr>
                        <a:defRPr sz="900">
                          <a:solidFill>
                            <a:srgbClr val="212B36"/>
                          </a:solidFill>
                        </a:defRPr>
                      </a:pPr>
                      <a:r>
                        <a:t>SCOR MA (formerly Channel MA)</a:t>
                      </a:r>
                    </a:p>
                  </a:txBody>
                  <a:tcPr>
                    <a:solidFill>
                      <a:srgbClr val="E9F0FA"/>
                    </a:solidFill>
                  </a:tcPr>
                </a:tc>
                <a:tc>
                  <a:txBody>
                    <a:bodyPr/>
                    <a:lstStyle/>
                    <a:p>
                      <a:pPr>
                        <a:defRPr sz="900">
                          <a:solidFill>
                            <a:srgbClr val="212B36"/>
                          </a:solidFill>
                        </a:defRPr>
                      </a:pPr>
                      <a:r>
                        <a:t>Renewal + Amendment 1 (name/address update)</a:t>
                      </a:r>
                    </a:p>
                  </a:txBody>
                  <a:tcPr>
                    <a:solidFill>
                      <a:srgbClr val="E9F0FA"/>
                    </a:solidFill>
                  </a:tcPr>
                </a:tc>
                <a:tc>
                  <a:txBody>
                    <a:bodyPr/>
                    <a:lstStyle/>
                    <a:p>
                      <a:pPr>
                        <a:defRPr sz="900">
                          <a:solidFill>
                            <a:srgbClr val="212B36"/>
                          </a:solidFill>
                        </a:defRPr>
                      </a:pPr>
                      <a:r>
                        <a:t>GBP 53,950</a:t>
                      </a:r>
                    </a:p>
                  </a:txBody>
                  <a:tcPr>
                    <a:solidFill>
                      <a:srgbClr val="E9F0FA"/>
                    </a:solidFill>
                  </a:tcPr>
                </a:tc>
              </a:tr>
            </a:tbl>
          </a:graphicData>
        </a:graphic>
      </p:graphicFrame>
      <p:sp>
        <p:nvSpPr>
          <p:cNvPr id="3" name="Title 2"/>
          <p:cNvSpPr>
            <a:spLocks noGrp="1"/>
          </p:cNvSpPr>
          <p:nvPr>
            <p:ph type="title"/>
          </p:nvPr>
        </p:nvSpPr>
        <p:spPr/>
        <p:txBody>
          <a:bodyPr/>
          <a:lstStyle/>
          <a:p>
            <a:r>
              <a:t>Contract history 2016-2025 (Channel -&gt; SCOR)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dayi_sk3_csv_icon.png"/>
          <p:cNvPicPr>
            <a:picLocks noGrp="1" noChangeAspect="1"/>
          </p:cNvPicPr>
          <p:nvPr>
            <p:ph type="pic" idx="37" sz="quarter"/>
          </p:nvPr>
        </p:nvPicPr>
        <p:blipFill>
          <a:blip r:embed="rId2"/>
          <a:srcRect t="738" b="738"/>
          <a:stretch>
            <a:fillRect/>
          </a:stretch>
        </p:blipFill>
        <p:spPr/>
      </p:pic>
      <p:pic>
        <p:nvPicPr>
          <p:cNvPr id="3" name="Picture Placeholder 2" descr="tmpjo2nspe5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8_5l8725_1.png"/>
          <p:cNvPicPr>
            <a:picLocks noGrp="1" noChangeAspect="1"/>
          </p:cNvPicPr>
          <p:nvPr>
            <p:ph type="pic" idx="28" sz="quarter"/>
          </p:nvPr>
        </p:nvPicPr>
        <p:blipFill>
          <a:blip r:embed="rId2"/>
          <a:srcRect l="1789" r="1789"/>
          <a:stretch>
            <a:fillRect/>
          </a:stretch>
        </p:blipFill>
        <p:spPr/>
      </p:pic>
      <p:pic>
        <p:nvPicPr>
          <p:cNvPr id="4" name="Picture Placeholder 3" descr="tmp0q2eanfr_2.png"/>
          <p:cNvPicPr>
            <a:picLocks noGrp="1" noChangeAspect="1"/>
          </p:cNvPicPr>
          <p:nvPr>
            <p:ph type="pic" idx="36" sz="quarter"/>
          </p:nvPr>
        </p:nvPicPr>
        <p:blipFill>
          <a:blip r:embed="rId3"/>
          <a:srcRect l="1789" r="1789"/>
          <a:stretch>
            <a:fillRect/>
          </a:stretch>
        </p:blipFill>
        <p:spPr/>
      </p:pic>
      <p:pic>
        <p:nvPicPr>
          <p:cNvPr id="5" name="Picture Placeholder 4" descr="tmpsjker76i_3.png"/>
          <p:cNvPicPr>
            <a:picLocks noGrp="1" noChangeAspect="1"/>
          </p:cNvPicPr>
          <p:nvPr>
            <p:ph type="pic" idx="37" sz="quarter"/>
          </p:nvPr>
        </p:nvPicPr>
        <p:blipFill>
          <a:blip r:embed="rId4"/>
          <a:srcRect l="1789" r="1789"/>
          <a:stretch>
            <a:fillRect/>
          </a:stretch>
        </p:blipFill>
        <p:spPr/>
      </p:pic>
      <p:pic>
        <p:nvPicPr>
          <p:cNvPr id="6" name="Picture Placeholder 5" descr="tmplrl808q1_4.png"/>
          <p:cNvPicPr>
            <a:picLocks noGrp="1" noChangeAspect="1"/>
          </p:cNvPicPr>
          <p:nvPr>
            <p:ph type="pic" idx="38" sz="quarter"/>
          </p:nvPr>
        </p:nvPicPr>
        <p:blipFill>
          <a:blip r:embed="rId5"/>
          <a:srcRect l="1789" r="1789"/>
          <a:stretch>
            <a:fillRect/>
          </a:stretch>
        </p:blipFill>
        <p:spPr/>
      </p:pic>
      <p:pic>
        <p:nvPicPr>
          <p:cNvPr id="7" name="Picture Placeholder 6" descr="tmptc0dwlli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Align Sales,</a:t>
            </a:r>
          </a:p>
          <a:p>
            <a:r>
              <a:t>Product and</a:t>
            </a:r>
          </a:p>
          <a:p>
            <a:r>
              <a:t>Contracts owners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